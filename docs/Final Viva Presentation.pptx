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8288000" cy="10287000"/>
  <p:notesSz cx="6858000" cy="9144000"/>
  <p:embeddedFontLst>
    <p:embeddedFont>
      <p:font typeface="Candal" panose="020B0604020202020204" charset="0"/>
      <p:regular r:id="rId23"/>
    </p:embeddedFont>
    <p:embeddedFont>
      <p:font typeface="Glacial Indifference" panose="020B0604020202020204" charset="0"/>
      <p:regular r:id="rId24"/>
    </p:embeddedFont>
    <p:embeddedFont>
      <p:font typeface="Glacial Indifference Bold" panose="020B060402020202020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9" d="100"/>
          <a:sy n="39" d="100"/>
        </p:scale>
        <p:origin x="940" y="102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2.svg"/><Relationship Id="rId7" Type="http://schemas.openxmlformats.org/officeDocument/2006/relationships/image" Target="../media/image1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8.svg"/><Relationship Id="rId7" Type="http://schemas.openxmlformats.org/officeDocument/2006/relationships/image" Target="../media/image20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2.svg"/><Relationship Id="rId10" Type="http://schemas.openxmlformats.org/officeDocument/2006/relationships/image" Target="../media/image23.png"/><Relationship Id="rId4" Type="http://schemas.openxmlformats.org/officeDocument/2006/relationships/image" Target="../media/image1.png"/><Relationship Id="rId9" Type="http://schemas.openxmlformats.org/officeDocument/2006/relationships/image" Target="../media/image22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2.svg"/><Relationship Id="rId7" Type="http://schemas.openxmlformats.org/officeDocument/2006/relationships/image" Target="../media/image2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Relationship Id="rId9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7" Type="http://schemas.openxmlformats.org/officeDocument/2006/relationships/image" Target="../media/image32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4.svg"/><Relationship Id="rId7" Type="http://schemas.openxmlformats.org/officeDocument/2006/relationships/image" Target="../media/image6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2.svg"/><Relationship Id="rId10" Type="http://schemas.openxmlformats.org/officeDocument/2006/relationships/image" Target="../media/image37.jpeg"/><Relationship Id="rId4" Type="http://schemas.openxmlformats.org/officeDocument/2006/relationships/image" Target="../media/image1.png"/><Relationship Id="rId9" Type="http://schemas.openxmlformats.org/officeDocument/2006/relationships/image" Target="../media/image3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7" Type="http://schemas.openxmlformats.org/officeDocument/2006/relationships/image" Target="../media/image12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2.svg"/><Relationship Id="rId7" Type="http://schemas.openxmlformats.org/officeDocument/2006/relationships/image" Target="../media/image2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Relationship Id="rId9" Type="http://schemas.openxmlformats.org/officeDocument/2006/relationships/image" Target="../media/image14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9.svg"/><Relationship Id="rId7" Type="http://schemas.openxmlformats.org/officeDocument/2006/relationships/image" Target="../media/image12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9.svg"/><Relationship Id="rId7" Type="http://schemas.openxmlformats.org/officeDocument/2006/relationships/image" Target="../media/image12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39.svg"/><Relationship Id="rId7" Type="http://schemas.openxmlformats.org/officeDocument/2006/relationships/image" Target="../media/image12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7" Type="http://schemas.openxmlformats.org/officeDocument/2006/relationships/image" Target="../media/image12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7" Type="http://schemas.openxmlformats.org/officeDocument/2006/relationships/image" Target="../media/image12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51.svg"/><Relationship Id="rId3" Type="http://schemas.openxmlformats.org/officeDocument/2006/relationships/image" Target="../media/image2.svg"/><Relationship Id="rId7" Type="http://schemas.openxmlformats.org/officeDocument/2006/relationships/image" Target="../media/image49.svg"/><Relationship Id="rId12" Type="http://schemas.openxmlformats.org/officeDocument/2006/relationships/image" Target="../media/image5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11" Type="http://schemas.openxmlformats.org/officeDocument/2006/relationships/image" Target="../media/image41.svg"/><Relationship Id="rId5" Type="http://schemas.openxmlformats.org/officeDocument/2006/relationships/image" Target="../media/image47.svg"/><Relationship Id="rId10" Type="http://schemas.openxmlformats.org/officeDocument/2006/relationships/image" Target="../media/image40.png"/><Relationship Id="rId4" Type="http://schemas.openxmlformats.org/officeDocument/2006/relationships/image" Target="../media/image46.png"/><Relationship Id="rId9" Type="http://schemas.openxmlformats.org/officeDocument/2006/relationships/image" Target="../media/image20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7" Type="http://schemas.openxmlformats.org/officeDocument/2006/relationships/image" Target="../media/image12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7" Type="http://schemas.openxmlformats.org/officeDocument/2006/relationships/image" Target="../media/image12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55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3.svg"/><Relationship Id="rId4" Type="http://schemas.openxmlformats.org/officeDocument/2006/relationships/image" Target="../media/image52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182110" y="5181110"/>
            <a:ext cx="8154379" cy="8154379"/>
          </a:xfrm>
          <a:custGeom>
            <a:avLst/>
            <a:gdLst/>
            <a:ahLst/>
            <a:cxnLst/>
            <a:rect l="l" t="t" r="r" b="b"/>
            <a:pathLst>
              <a:path w="8154379" h="8154379">
                <a:moveTo>
                  <a:pt x="0" y="0"/>
                </a:moveTo>
                <a:lnTo>
                  <a:pt x="8154380" y="0"/>
                </a:lnTo>
                <a:lnTo>
                  <a:pt x="8154380" y="8154380"/>
                </a:lnTo>
                <a:lnTo>
                  <a:pt x="0" y="81543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2964929" y="-728801"/>
            <a:ext cx="4809082" cy="1757501"/>
          </a:xfrm>
          <a:custGeom>
            <a:avLst/>
            <a:gdLst/>
            <a:ahLst/>
            <a:cxnLst/>
            <a:rect l="l" t="t" r="r" b="b"/>
            <a:pathLst>
              <a:path w="4809082" h="1757501">
                <a:moveTo>
                  <a:pt x="0" y="0"/>
                </a:moveTo>
                <a:lnTo>
                  <a:pt x="4809082" y="0"/>
                </a:lnTo>
                <a:lnTo>
                  <a:pt x="4809082" y="1757501"/>
                </a:lnTo>
                <a:lnTo>
                  <a:pt x="0" y="175750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-3048490" y="-2973269"/>
            <a:ext cx="8154379" cy="8154379"/>
          </a:xfrm>
          <a:custGeom>
            <a:avLst/>
            <a:gdLst/>
            <a:ahLst/>
            <a:cxnLst/>
            <a:rect l="l" t="t" r="r" b="b"/>
            <a:pathLst>
              <a:path w="8154379" h="8154379">
                <a:moveTo>
                  <a:pt x="0" y="0"/>
                </a:moveTo>
                <a:lnTo>
                  <a:pt x="8154380" y="0"/>
                </a:lnTo>
                <a:lnTo>
                  <a:pt x="8154380" y="8154379"/>
                </a:lnTo>
                <a:lnTo>
                  <a:pt x="0" y="81543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TextBox 5"/>
          <p:cNvSpPr txBox="1"/>
          <p:nvPr/>
        </p:nvSpPr>
        <p:spPr>
          <a:xfrm>
            <a:off x="3962400" y="1257300"/>
            <a:ext cx="14239875" cy="55912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917"/>
              </a:lnSpc>
            </a:pPr>
            <a:r>
              <a:rPr lang="en-US" sz="10917" dirty="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AGENTIC CLIMATE EARLY WARNING SYSTEM FOR SRI LANKA</a:t>
            </a:r>
          </a:p>
        </p:txBody>
      </p:sp>
      <p:sp>
        <p:nvSpPr>
          <p:cNvPr id="6" name="Freeform 6"/>
          <p:cNvSpPr/>
          <p:nvPr/>
        </p:nvSpPr>
        <p:spPr>
          <a:xfrm>
            <a:off x="-236144" y="-195501"/>
            <a:ext cx="4425558" cy="4425558"/>
          </a:xfrm>
          <a:custGeom>
            <a:avLst/>
            <a:gdLst/>
            <a:ahLst/>
            <a:cxnLst/>
            <a:rect l="l" t="t" r="r" b="b"/>
            <a:pathLst>
              <a:path w="4425558" h="4425558">
                <a:moveTo>
                  <a:pt x="0" y="0"/>
                </a:moveTo>
                <a:lnTo>
                  <a:pt x="4425558" y="0"/>
                </a:lnTo>
                <a:lnTo>
                  <a:pt x="4425558" y="4425558"/>
                </a:lnTo>
                <a:lnTo>
                  <a:pt x="0" y="442555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Freeform 7"/>
          <p:cNvSpPr/>
          <p:nvPr/>
        </p:nvSpPr>
        <p:spPr>
          <a:xfrm flipH="1" flipV="1">
            <a:off x="14171741" y="6177516"/>
            <a:ext cx="4425558" cy="4425558"/>
          </a:xfrm>
          <a:custGeom>
            <a:avLst/>
            <a:gdLst/>
            <a:ahLst/>
            <a:cxnLst/>
            <a:rect l="l" t="t" r="r" b="b"/>
            <a:pathLst>
              <a:path w="4425558" h="4425558">
                <a:moveTo>
                  <a:pt x="4425558" y="4425559"/>
                </a:moveTo>
                <a:lnTo>
                  <a:pt x="0" y="4425559"/>
                </a:lnTo>
                <a:lnTo>
                  <a:pt x="0" y="0"/>
                </a:lnTo>
                <a:lnTo>
                  <a:pt x="4425558" y="0"/>
                </a:lnTo>
                <a:lnTo>
                  <a:pt x="4425558" y="4425559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8" name="Freeform 8"/>
          <p:cNvSpPr/>
          <p:nvPr/>
        </p:nvSpPr>
        <p:spPr>
          <a:xfrm>
            <a:off x="205233" y="8131414"/>
            <a:ext cx="7315200" cy="1923288"/>
          </a:xfrm>
          <a:custGeom>
            <a:avLst/>
            <a:gdLst/>
            <a:ahLst/>
            <a:cxnLst/>
            <a:rect l="l" t="t" r="r" b="b"/>
            <a:pathLst>
              <a:path w="7315200" h="1923288">
                <a:moveTo>
                  <a:pt x="0" y="0"/>
                </a:moveTo>
                <a:lnTo>
                  <a:pt x="7315200" y="0"/>
                </a:lnTo>
                <a:lnTo>
                  <a:pt x="7315200" y="1923288"/>
                </a:lnTo>
                <a:lnTo>
                  <a:pt x="0" y="192328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9" name="Freeform 9"/>
          <p:cNvSpPr/>
          <p:nvPr/>
        </p:nvSpPr>
        <p:spPr>
          <a:xfrm>
            <a:off x="13182110" y="-728801"/>
            <a:ext cx="4809082" cy="1757501"/>
          </a:xfrm>
          <a:custGeom>
            <a:avLst/>
            <a:gdLst/>
            <a:ahLst/>
            <a:cxnLst/>
            <a:rect l="l" t="t" r="r" b="b"/>
            <a:pathLst>
              <a:path w="4809082" h="1757501">
                <a:moveTo>
                  <a:pt x="0" y="0"/>
                </a:moveTo>
                <a:lnTo>
                  <a:pt x="4809083" y="0"/>
                </a:lnTo>
                <a:lnTo>
                  <a:pt x="4809083" y="1757501"/>
                </a:lnTo>
                <a:lnTo>
                  <a:pt x="0" y="175750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0" name="Freeform 10"/>
          <p:cNvSpPr/>
          <p:nvPr/>
        </p:nvSpPr>
        <p:spPr>
          <a:xfrm>
            <a:off x="8073520" y="-728801"/>
            <a:ext cx="4809082" cy="1757501"/>
          </a:xfrm>
          <a:custGeom>
            <a:avLst/>
            <a:gdLst/>
            <a:ahLst/>
            <a:cxnLst/>
            <a:rect l="l" t="t" r="r" b="b"/>
            <a:pathLst>
              <a:path w="4809082" h="1757501">
                <a:moveTo>
                  <a:pt x="0" y="0"/>
                </a:moveTo>
                <a:lnTo>
                  <a:pt x="4809082" y="0"/>
                </a:lnTo>
                <a:lnTo>
                  <a:pt x="4809082" y="1757501"/>
                </a:lnTo>
                <a:lnTo>
                  <a:pt x="0" y="175750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5B5979DA-9981-E5DD-1146-7AA88981B53C}"/>
              </a:ext>
            </a:extLst>
          </p:cNvPr>
          <p:cNvSpPr txBox="1"/>
          <p:nvPr/>
        </p:nvSpPr>
        <p:spPr>
          <a:xfrm>
            <a:off x="7107261" y="7347876"/>
            <a:ext cx="12704739" cy="25962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917"/>
              </a:lnSpc>
            </a:pPr>
            <a:r>
              <a:rPr lang="en-US" sz="6000" dirty="0" err="1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Ariwalagan</a:t>
            </a:r>
            <a:r>
              <a:rPr lang="en-US" sz="6000" dirty="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 Dhilshan</a:t>
            </a:r>
          </a:p>
          <a:p>
            <a:pPr algn="ctr">
              <a:lnSpc>
                <a:spcPts val="10917"/>
              </a:lnSpc>
            </a:pPr>
            <a:r>
              <a:rPr lang="en-US" sz="6000" dirty="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COBScDS242P-017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568867" y="-2561505"/>
            <a:ext cx="5513578" cy="5513578"/>
          </a:xfrm>
          <a:custGeom>
            <a:avLst/>
            <a:gdLst/>
            <a:ahLst/>
            <a:cxnLst/>
            <a:rect l="l" t="t" r="r" b="b"/>
            <a:pathLst>
              <a:path w="5513578" h="5513578">
                <a:moveTo>
                  <a:pt x="0" y="0"/>
                </a:moveTo>
                <a:lnTo>
                  <a:pt x="5513577" y="0"/>
                </a:lnTo>
                <a:lnTo>
                  <a:pt x="5513577" y="5513578"/>
                </a:lnTo>
                <a:lnTo>
                  <a:pt x="0" y="55135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 flipV="1">
            <a:off x="13158962" y="6899520"/>
            <a:ext cx="7315200" cy="3657600"/>
          </a:xfrm>
          <a:custGeom>
            <a:avLst/>
            <a:gdLst/>
            <a:ahLst/>
            <a:cxnLst/>
            <a:rect l="l" t="t" r="r" b="b"/>
            <a:pathLst>
              <a:path w="7315200" h="3657600">
                <a:moveTo>
                  <a:pt x="0" y="3657600"/>
                </a:moveTo>
                <a:lnTo>
                  <a:pt x="7315200" y="3657600"/>
                </a:lnTo>
                <a:lnTo>
                  <a:pt x="7315200" y="0"/>
                </a:lnTo>
                <a:lnTo>
                  <a:pt x="0" y="0"/>
                </a:lnTo>
                <a:lnTo>
                  <a:pt x="0" y="365760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14198673" y="9524167"/>
            <a:ext cx="3657600" cy="502920"/>
          </a:xfrm>
          <a:custGeom>
            <a:avLst/>
            <a:gdLst/>
            <a:ahLst/>
            <a:cxnLst/>
            <a:rect l="l" t="t" r="r" b="b"/>
            <a:pathLst>
              <a:path w="3657600" h="502920">
                <a:moveTo>
                  <a:pt x="0" y="0"/>
                </a:moveTo>
                <a:lnTo>
                  <a:pt x="3657600" y="0"/>
                </a:lnTo>
                <a:lnTo>
                  <a:pt x="3657600" y="502920"/>
                </a:lnTo>
                <a:lnTo>
                  <a:pt x="0" y="50292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13268255" y="-2057400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/>
          <p:cNvSpPr/>
          <p:nvPr/>
        </p:nvSpPr>
        <p:spPr>
          <a:xfrm>
            <a:off x="214933" y="-345714"/>
            <a:ext cx="5083377" cy="1623107"/>
          </a:xfrm>
          <a:custGeom>
            <a:avLst/>
            <a:gdLst/>
            <a:ahLst/>
            <a:cxnLst/>
            <a:rect l="l" t="t" r="r" b="b"/>
            <a:pathLst>
              <a:path w="5083377" h="1623107">
                <a:moveTo>
                  <a:pt x="0" y="0"/>
                </a:moveTo>
                <a:lnTo>
                  <a:pt x="5083377" y="0"/>
                </a:lnTo>
                <a:lnTo>
                  <a:pt x="5083377" y="1623107"/>
                </a:lnTo>
                <a:lnTo>
                  <a:pt x="0" y="162310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TextBox 7"/>
          <p:cNvSpPr txBox="1"/>
          <p:nvPr/>
        </p:nvSpPr>
        <p:spPr>
          <a:xfrm>
            <a:off x="-952178" y="1574131"/>
            <a:ext cx="19240178" cy="13779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Background &amp; Motivation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97419" y="4170394"/>
            <a:ext cx="15397941" cy="58566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57743" lvl="1" indent="-328871" algn="just">
              <a:lnSpc>
                <a:spcPts val="4265"/>
              </a:lnSpc>
              <a:buFont typeface="Arial"/>
              <a:buChar char="•"/>
            </a:pPr>
            <a:r>
              <a:rPr lang="en-US" sz="3046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Sri Lanka is highly exposed to:</a:t>
            </a:r>
          </a:p>
          <a:p>
            <a:pPr marL="1315485" lvl="2" indent="-438495" algn="just">
              <a:lnSpc>
                <a:spcPts val="4265"/>
              </a:lnSpc>
              <a:buFont typeface="Arial"/>
              <a:buChar char="⚬"/>
            </a:pPr>
            <a:r>
              <a:rPr lang="en-US" sz="3046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Monsoon-driven floods</a:t>
            </a:r>
          </a:p>
          <a:p>
            <a:pPr marL="1315485" lvl="2" indent="-438495" algn="just">
              <a:lnSpc>
                <a:spcPts val="4265"/>
              </a:lnSpc>
              <a:buFont typeface="Arial"/>
              <a:buChar char="⚬"/>
            </a:pPr>
            <a:r>
              <a:rPr lang="en-US" sz="3046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Seasonal droughts</a:t>
            </a:r>
          </a:p>
          <a:p>
            <a:pPr marL="657743" lvl="1" indent="-328871" algn="just">
              <a:lnSpc>
                <a:spcPts val="4265"/>
              </a:lnSpc>
              <a:buFont typeface="Arial"/>
              <a:buChar char="•"/>
            </a:pPr>
            <a:r>
              <a:rPr lang="en-US" sz="3046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Existing practices:</a:t>
            </a:r>
          </a:p>
          <a:p>
            <a:pPr marL="1315485" lvl="2" indent="-438495" algn="just">
              <a:lnSpc>
                <a:spcPts val="4265"/>
              </a:lnSpc>
              <a:buFont typeface="Arial"/>
              <a:buChar char="⚬"/>
            </a:pPr>
            <a:r>
              <a:rPr lang="en-US" sz="3046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Often station-level rainfall numbers</a:t>
            </a:r>
          </a:p>
          <a:p>
            <a:pPr marL="1315485" lvl="2" indent="-438495" algn="just">
              <a:lnSpc>
                <a:spcPts val="4265"/>
              </a:lnSpc>
              <a:buFont typeface="Arial"/>
              <a:buChar char="⚬"/>
            </a:pPr>
            <a:r>
              <a:rPr lang="en-US" sz="3046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Limited district-level, decision-ready warnings</a:t>
            </a:r>
          </a:p>
          <a:p>
            <a:pPr marL="657743" lvl="1" indent="-328871" algn="just">
              <a:lnSpc>
                <a:spcPts val="4265"/>
              </a:lnSpc>
              <a:buFont typeface="Arial"/>
              <a:buChar char="•"/>
            </a:pPr>
            <a:r>
              <a:rPr lang="en-US" sz="3046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Need:</a:t>
            </a:r>
          </a:p>
          <a:p>
            <a:pPr marL="1315485" lvl="2" indent="-438495" algn="just">
              <a:lnSpc>
                <a:spcPts val="4265"/>
              </a:lnSpc>
              <a:buFont typeface="Arial"/>
              <a:buChar char="⚬"/>
            </a:pPr>
            <a:r>
              <a:rPr lang="en-US" sz="3046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Multi-day early warning</a:t>
            </a:r>
          </a:p>
          <a:p>
            <a:pPr marL="1315485" lvl="2" indent="-438495" algn="just">
              <a:lnSpc>
                <a:spcPts val="4265"/>
              </a:lnSpc>
              <a:buFont typeface="Arial"/>
              <a:buChar char="⚬"/>
            </a:pPr>
            <a:r>
              <a:rPr lang="en-US" sz="3046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District-level risk</a:t>
            </a:r>
          </a:p>
          <a:p>
            <a:pPr marL="1315485" lvl="2" indent="-438495" algn="just">
              <a:lnSpc>
                <a:spcPts val="4265"/>
              </a:lnSpc>
              <a:buFont typeface="Arial"/>
              <a:buChar char="⚬"/>
            </a:pPr>
            <a:r>
              <a:rPr lang="en-US" sz="3046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Transparent, adjustable decisions</a:t>
            </a:r>
          </a:p>
          <a:p>
            <a:pPr algn="just">
              <a:lnSpc>
                <a:spcPts val="4265"/>
              </a:lnSpc>
            </a:pPr>
            <a:endParaRPr lang="en-US" sz="3046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 flipV="1">
            <a:off x="-281714" y="-232679"/>
            <a:ext cx="6629145" cy="3784639"/>
          </a:xfrm>
          <a:custGeom>
            <a:avLst/>
            <a:gdLst/>
            <a:ahLst/>
            <a:cxnLst/>
            <a:rect l="l" t="t" r="r" b="b"/>
            <a:pathLst>
              <a:path w="6629145" h="3784639">
                <a:moveTo>
                  <a:pt x="6629144" y="3784639"/>
                </a:moveTo>
                <a:lnTo>
                  <a:pt x="0" y="3784639"/>
                </a:lnTo>
                <a:lnTo>
                  <a:pt x="0" y="0"/>
                </a:lnTo>
                <a:lnTo>
                  <a:pt x="6629144" y="0"/>
                </a:lnTo>
                <a:lnTo>
                  <a:pt x="6629144" y="378463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11866416" y="6387980"/>
            <a:ext cx="7433579" cy="7433579"/>
          </a:xfrm>
          <a:custGeom>
            <a:avLst/>
            <a:gdLst/>
            <a:ahLst/>
            <a:cxnLst/>
            <a:rect l="l" t="t" r="r" b="b"/>
            <a:pathLst>
              <a:path w="7433579" h="7433579">
                <a:moveTo>
                  <a:pt x="0" y="0"/>
                </a:moveTo>
                <a:lnTo>
                  <a:pt x="7433579" y="0"/>
                </a:lnTo>
                <a:lnTo>
                  <a:pt x="7433579" y="7433579"/>
                </a:lnTo>
                <a:lnTo>
                  <a:pt x="0" y="743357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 rot="-10800000">
            <a:off x="12527199" y="7592182"/>
            <a:ext cx="6112013" cy="3056006"/>
          </a:xfrm>
          <a:custGeom>
            <a:avLst/>
            <a:gdLst/>
            <a:ahLst/>
            <a:cxnLst/>
            <a:rect l="l" t="t" r="r" b="b"/>
            <a:pathLst>
              <a:path w="6112013" h="3056006">
                <a:moveTo>
                  <a:pt x="0" y="0"/>
                </a:moveTo>
                <a:lnTo>
                  <a:pt x="6112013" y="0"/>
                </a:lnTo>
                <a:lnTo>
                  <a:pt x="6112013" y="3056006"/>
                </a:lnTo>
                <a:lnTo>
                  <a:pt x="0" y="305600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237553" y="9518165"/>
            <a:ext cx="2806840" cy="385941"/>
          </a:xfrm>
          <a:custGeom>
            <a:avLst/>
            <a:gdLst/>
            <a:ahLst/>
            <a:cxnLst/>
            <a:rect l="l" t="t" r="r" b="b"/>
            <a:pathLst>
              <a:path w="2806840" h="385941">
                <a:moveTo>
                  <a:pt x="0" y="0"/>
                </a:moveTo>
                <a:lnTo>
                  <a:pt x="2806841" y="0"/>
                </a:lnTo>
                <a:lnTo>
                  <a:pt x="2806841" y="385941"/>
                </a:lnTo>
                <a:lnTo>
                  <a:pt x="0" y="38594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/>
          <p:cNvSpPr/>
          <p:nvPr/>
        </p:nvSpPr>
        <p:spPr>
          <a:xfrm>
            <a:off x="3316553" y="9518165"/>
            <a:ext cx="2806840" cy="385941"/>
          </a:xfrm>
          <a:custGeom>
            <a:avLst/>
            <a:gdLst/>
            <a:ahLst/>
            <a:cxnLst/>
            <a:rect l="l" t="t" r="r" b="b"/>
            <a:pathLst>
              <a:path w="2806840" h="385941">
                <a:moveTo>
                  <a:pt x="0" y="0"/>
                </a:moveTo>
                <a:lnTo>
                  <a:pt x="2806841" y="0"/>
                </a:lnTo>
                <a:lnTo>
                  <a:pt x="2806841" y="385941"/>
                </a:lnTo>
                <a:lnTo>
                  <a:pt x="0" y="38594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Freeform 7"/>
          <p:cNvSpPr/>
          <p:nvPr/>
        </p:nvSpPr>
        <p:spPr>
          <a:xfrm>
            <a:off x="6395553" y="9518165"/>
            <a:ext cx="2806840" cy="385941"/>
          </a:xfrm>
          <a:custGeom>
            <a:avLst/>
            <a:gdLst/>
            <a:ahLst/>
            <a:cxnLst/>
            <a:rect l="l" t="t" r="r" b="b"/>
            <a:pathLst>
              <a:path w="2806840" h="385941">
                <a:moveTo>
                  <a:pt x="0" y="0"/>
                </a:moveTo>
                <a:lnTo>
                  <a:pt x="2806840" y="0"/>
                </a:lnTo>
                <a:lnTo>
                  <a:pt x="2806840" y="385941"/>
                </a:lnTo>
                <a:lnTo>
                  <a:pt x="0" y="38594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8" name="Freeform 8"/>
          <p:cNvSpPr/>
          <p:nvPr/>
        </p:nvSpPr>
        <p:spPr>
          <a:xfrm>
            <a:off x="9474553" y="9518165"/>
            <a:ext cx="2806840" cy="385941"/>
          </a:xfrm>
          <a:custGeom>
            <a:avLst/>
            <a:gdLst/>
            <a:ahLst/>
            <a:cxnLst/>
            <a:rect l="l" t="t" r="r" b="b"/>
            <a:pathLst>
              <a:path w="2806840" h="385941">
                <a:moveTo>
                  <a:pt x="0" y="0"/>
                </a:moveTo>
                <a:lnTo>
                  <a:pt x="2806840" y="0"/>
                </a:lnTo>
                <a:lnTo>
                  <a:pt x="2806840" y="385941"/>
                </a:lnTo>
                <a:lnTo>
                  <a:pt x="0" y="38594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9" name="Freeform 9"/>
          <p:cNvSpPr/>
          <p:nvPr/>
        </p:nvSpPr>
        <p:spPr>
          <a:xfrm>
            <a:off x="12922426" y="8094926"/>
            <a:ext cx="5321560" cy="5321560"/>
          </a:xfrm>
          <a:custGeom>
            <a:avLst/>
            <a:gdLst/>
            <a:ahLst/>
            <a:cxnLst/>
            <a:rect l="l" t="t" r="r" b="b"/>
            <a:pathLst>
              <a:path w="5321560" h="5321560">
                <a:moveTo>
                  <a:pt x="0" y="0"/>
                </a:moveTo>
                <a:lnTo>
                  <a:pt x="5321559" y="0"/>
                </a:lnTo>
                <a:lnTo>
                  <a:pt x="5321559" y="5321559"/>
                </a:lnTo>
                <a:lnTo>
                  <a:pt x="0" y="532155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0" name="TextBox 10"/>
          <p:cNvSpPr txBox="1"/>
          <p:nvPr/>
        </p:nvSpPr>
        <p:spPr>
          <a:xfrm>
            <a:off x="3044394" y="405191"/>
            <a:ext cx="16603012" cy="2797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Research Problem &amp; Questions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30422" y="3512831"/>
            <a:ext cx="12130262" cy="6391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Problem: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Forecasts alone are not enough for early warning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Need linkage: Forecast → District Risk → Alert → Explanation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Key research questions:</a:t>
            </a:r>
          </a:p>
          <a:p>
            <a:pPr marL="1295400" lvl="2" indent="-431800" algn="just">
              <a:lnSpc>
                <a:spcPts val="4200"/>
              </a:lnSpc>
              <a:buAutoNum type="alphaLcPeriod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How to forecast precipitation 1–7 days ahead using a station graph?</a:t>
            </a:r>
          </a:p>
          <a:p>
            <a:pPr marL="1295400" lvl="2" indent="-431800" algn="just">
              <a:lnSpc>
                <a:spcPts val="4200"/>
              </a:lnSpc>
              <a:buAutoNum type="alphaLcPeriod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How to aggregate station forecasts into district-level features?</a:t>
            </a:r>
          </a:p>
          <a:p>
            <a:pPr marL="1295400" lvl="2" indent="-431800" algn="just">
              <a:lnSpc>
                <a:spcPts val="4200"/>
              </a:lnSpc>
              <a:buAutoNum type="alphaLcPeriod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How to model district flood/drought/normal risk with calibrated probabilities?</a:t>
            </a:r>
          </a:p>
          <a:p>
            <a:pPr marL="1295400" lvl="2" indent="-431800" algn="just">
              <a:lnSpc>
                <a:spcPts val="4200"/>
              </a:lnSpc>
              <a:buAutoNum type="alphaLcPeriod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How to attach explanations to each alert for operators?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09550" y="7119153"/>
            <a:ext cx="5115420" cy="5115420"/>
          </a:xfrm>
          <a:custGeom>
            <a:avLst/>
            <a:gdLst/>
            <a:ahLst/>
            <a:cxnLst/>
            <a:rect l="l" t="t" r="r" b="b"/>
            <a:pathLst>
              <a:path w="5115420" h="5115420">
                <a:moveTo>
                  <a:pt x="0" y="0"/>
                </a:moveTo>
                <a:lnTo>
                  <a:pt x="5115420" y="0"/>
                </a:lnTo>
                <a:lnTo>
                  <a:pt x="5115420" y="5115420"/>
                </a:lnTo>
                <a:lnTo>
                  <a:pt x="0" y="51154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 rot="5400000">
            <a:off x="-3022934" y="2418898"/>
            <a:ext cx="9608356" cy="4070449"/>
          </a:xfrm>
          <a:custGeom>
            <a:avLst/>
            <a:gdLst/>
            <a:ahLst/>
            <a:cxnLst/>
            <a:rect l="l" t="t" r="r" b="b"/>
            <a:pathLst>
              <a:path w="9608356" h="4070449">
                <a:moveTo>
                  <a:pt x="0" y="0"/>
                </a:moveTo>
                <a:lnTo>
                  <a:pt x="9608356" y="0"/>
                </a:lnTo>
                <a:lnTo>
                  <a:pt x="9608356" y="4070449"/>
                </a:lnTo>
                <a:lnTo>
                  <a:pt x="0" y="407044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14219510" y="-997475"/>
            <a:ext cx="3846149" cy="2692304"/>
          </a:xfrm>
          <a:custGeom>
            <a:avLst/>
            <a:gdLst/>
            <a:ahLst/>
            <a:cxnLst/>
            <a:rect l="l" t="t" r="r" b="b"/>
            <a:pathLst>
              <a:path w="3846149" h="2692304">
                <a:moveTo>
                  <a:pt x="0" y="0"/>
                </a:moveTo>
                <a:lnTo>
                  <a:pt x="3846149" y="0"/>
                </a:lnTo>
                <a:lnTo>
                  <a:pt x="3846149" y="2692304"/>
                </a:lnTo>
                <a:lnTo>
                  <a:pt x="0" y="26923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185306" y="7772864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TextBox 6"/>
          <p:cNvSpPr txBox="1"/>
          <p:nvPr/>
        </p:nvSpPr>
        <p:spPr>
          <a:xfrm>
            <a:off x="2613277" y="886792"/>
            <a:ext cx="13529308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Objectives &amp; Scope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642604" y="3972389"/>
            <a:ext cx="12130262" cy="5857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Objectives: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Build station-level precipitation forecasting model (P=30, H=1..7)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Convert station forecasts into district-level rolling features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Generate flood/drought/normal labels via data-driven thresholds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Train a calibrated district risk classifier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Implement autonomous alerting with SHAP-based explanations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Scope: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1 – 7 day lead-time warnings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429 stations → 25 districts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Full ML-to-decision pipeline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521758" y="9258300"/>
            <a:ext cx="4070393" cy="1487544"/>
          </a:xfrm>
          <a:custGeom>
            <a:avLst/>
            <a:gdLst/>
            <a:ahLst/>
            <a:cxnLst/>
            <a:rect l="l" t="t" r="r" b="b"/>
            <a:pathLst>
              <a:path w="4070393" h="1487544">
                <a:moveTo>
                  <a:pt x="0" y="0"/>
                </a:moveTo>
                <a:lnTo>
                  <a:pt x="4070393" y="0"/>
                </a:lnTo>
                <a:lnTo>
                  <a:pt x="4070393" y="1487544"/>
                </a:lnTo>
                <a:lnTo>
                  <a:pt x="0" y="14875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2793523" y="9258300"/>
            <a:ext cx="4070393" cy="1487544"/>
          </a:xfrm>
          <a:custGeom>
            <a:avLst/>
            <a:gdLst/>
            <a:ahLst/>
            <a:cxnLst/>
            <a:rect l="l" t="t" r="r" b="b"/>
            <a:pathLst>
              <a:path w="4070393" h="1487544">
                <a:moveTo>
                  <a:pt x="0" y="0"/>
                </a:moveTo>
                <a:lnTo>
                  <a:pt x="4070393" y="0"/>
                </a:lnTo>
                <a:lnTo>
                  <a:pt x="4070393" y="1487544"/>
                </a:lnTo>
                <a:lnTo>
                  <a:pt x="0" y="14875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7108803" y="9258300"/>
            <a:ext cx="4070393" cy="1487544"/>
          </a:xfrm>
          <a:custGeom>
            <a:avLst/>
            <a:gdLst/>
            <a:ahLst/>
            <a:cxnLst/>
            <a:rect l="l" t="t" r="r" b="b"/>
            <a:pathLst>
              <a:path w="4070393" h="1487544">
                <a:moveTo>
                  <a:pt x="0" y="0"/>
                </a:moveTo>
                <a:lnTo>
                  <a:pt x="4070394" y="0"/>
                </a:lnTo>
                <a:lnTo>
                  <a:pt x="4070394" y="1487544"/>
                </a:lnTo>
                <a:lnTo>
                  <a:pt x="0" y="14875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11424084" y="9258300"/>
            <a:ext cx="4070393" cy="1487544"/>
          </a:xfrm>
          <a:custGeom>
            <a:avLst/>
            <a:gdLst/>
            <a:ahLst/>
            <a:cxnLst/>
            <a:rect l="l" t="t" r="r" b="b"/>
            <a:pathLst>
              <a:path w="4070393" h="1487544">
                <a:moveTo>
                  <a:pt x="0" y="0"/>
                </a:moveTo>
                <a:lnTo>
                  <a:pt x="4070393" y="0"/>
                </a:lnTo>
                <a:lnTo>
                  <a:pt x="4070393" y="1487544"/>
                </a:lnTo>
                <a:lnTo>
                  <a:pt x="0" y="14875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/>
          <p:cNvSpPr/>
          <p:nvPr/>
        </p:nvSpPr>
        <p:spPr>
          <a:xfrm>
            <a:off x="15739365" y="9258300"/>
            <a:ext cx="4070393" cy="1487544"/>
          </a:xfrm>
          <a:custGeom>
            <a:avLst/>
            <a:gdLst/>
            <a:ahLst/>
            <a:cxnLst/>
            <a:rect l="l" t="t" r="r" b="b"/>
            <a:pathLst>
              <a:path w="4070393" h="1487544">
                <a:moveTo>
                  <a:pt x="0" y="0"/>
                </a:moveTo>
                <a:lnTo>
                  <a:pt x="4070393" y="0"/>
                </a:lnTo>
                <a:lnTo>
                  <a:pt x="4070393" y="1487544"/>
                </a:lnTo>
                <a:lnTo>
                  <a:pt x="0" y="14875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Freeform 7"/>
          <p:cNvSpPr/>
          <p:nvPr/>
        </p:nvSpPr>
        <p:spPr>
          <a:xfrm>
            <a:off x="1035805" y="7733864"/>
            <a:ext cx="3792914" cy="3792914"/>
          </a:xfrm>
          <a:custGeom>
            <a:avLst/>
            <a:gdLst/>
            <a:ahLst/>
            <a:cxnLst/>
            <a:rect l="l" t="t" r="r" b="b"/>
            <a:pathLst>
              <a:path w="3792914" h="3792914">
                <a:moveTo>
                  <a:pt x="0" y="0"/>
                </a:moveTo>
                <a:lnTo>
                  <a:pt x="3792914" y="0"/>
                </a:lnTo>
                <a:lnTo>
                  <a:pt x="3792914" y="3792915"/>
                </a:lnTo>
                <a:lnTo>
                  <a:pt x="0" y="37929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8" name="Freeform 8"/>
          <p:cNvSpPr/>
          <p:nvPr/>
        </p:nvSpPr>
        <p:spPr>
          <a:xfrm>
            <a:off x="1773361" y="8188295"/>
            <a:ext cx="4381849" cy="2884054"/>
          </a:xfrm>
          <a:custGeom>
            <a:avLst/>
            <a:gdLst/>
            <a:ahLst/>
            <a:cxnLst/>
            <a:rect l="l" t="t" r="r" b="b"/>
            <a:pathLst>
              <a:path w="4381849" h="2884054">
                <a:moveTo>
                  <a:pt x="0" y="0"/>
                </a:moveTo>
                <a:lnTo>
                  <a:pt x="4381849" y="0"/>
                </a:lnTo>
                <a:lnTo>
                  <a:pt x="4381849" y="2884053"/>
                </a:lnTo>
                <a:lnTo>
                  <a:pt x="0" y="288405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9" name="TextBox 9"/>
          <p:cNvSpPr txBox="1"/>
          <p:nvPr/>
        </p:nvSpPr>
        <p:spPr>
          <a:xfrm>
            <a:off x="-161863" y="33415"/>
            <a:ext cx="13165587" cy="2797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Dataset &amp; Core Files</a:t>
            </a:r>
          </a:p>
          <a:p>
            <a:pPr algn="ctr">
              <a:lnSpc>
                <a:spcPts val="11200"/>
              </a:lnSpc>
            </a:pPr>
            <a:endParaRPr lang="en-US" sz="8000">
              <a:solidFill>
                <a:srgbClr val="343434"/>
              </a:solidFill>
              <a:latin typeface="Candal"/>
              <a:ea typeface="Candal"/>
              <a:cs typeface="Candal"/>
              <a:sym typeface="Candal"/>
            </a:endParaRPr>
          </a:p>
        </p:txBody>
      </p:sp>
      <p:sp>
        <p:nvSpPr>
          <p:cNvPr id="10" name="Freeform 10"/>
          <p:cNvSpPr/>
          <p:nvPr/>
        </p:nvSpPr>
        <p:spPr>
          <a:xfrm>
            <a:off x="12558553" y="-1210108"/>
            <a:ext cx="3612766" cy="3612766"/>
          </a:xfrm>
          <a:custGeom>
            <a:avLst/>
            <a:gdLst/>
            <a:ahLst/>
            <a:cxnLst/>
            <a:rect l="l" t="t" r="r" b="b"/>
            <a:pathLst>
              <a:path w="3612766" h="3612766">
                <a:moveTo>
                  <a:pt x="0" y="0"/>
                </a:moveTo>
                <a:lnTo>
                  <a:pt x="3612766" y="0"/>
                </a:lnTo>
                <a:lnTo>
                  <a:pt x="3612766" y="3612766"/>
                </a:lnTo>
                <a:lnTo>
                  <a:pt x="0" y="36127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1" name="Freeform 11"/>
          <p:cNvSpPr/>
          <p:nvPr/>
        </p:nvSpPr>
        <p:spPr>
          <a:xfrm flipV="1">
            <a:off x="13146586" y="-845752"/>
            <a:ext cx="4381849" cy="2884054"/>
          </a:xfrm>
          <a:custGeom>
            <a:avLst/>
            <a:gdLst/>
            <a:ahLst/>
            <a:cxnLst/>
            <a:rect l="l" t="t" r="r" b="b"/>
            <a:pathLst>
              <a:path w="4381849" h="2884054">
                <a:moveTo>
                  <a:pt x="0" y="2884054"/>
                </a:moveTo>
                <a:lnTo>
                  <a:pt x="4381849" y="2884054"/>
                </a:lnTo>
                <a:lnTo>
                  <a:pt x="4381849" y="0"/>
                </a:lnTo>
                <a:lnTo>
                  <a:pt x="0" y="0"/>
                </a:lnTo>
                <a:lnTo>
                  <a:pt x="0" y="288405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2" name="TextBox 12"/>
          <p:cNvSpPr txBox="1"/>
          <p:nvPr/>
        </p:nvSpPr>
        <p:spPr>
          <a:xfrm>
            <a:off x="1420106" y="4847452"/>
            <a:ext cx="7723894" cy="3084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Time period: 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2022-11-11 to 2024-11-11 (T = 732 days)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Spatial coverage: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429 weather stations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25 administrative districts</a:t>
            </a:r>
          </a:p>
          <a:p>
            <a:pPr algn="just">
              <a:lnSpc>
                <a:spcPts val="3359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719979" y="4847452"/>
            <a:ext cx="7328014" cy="4791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V_precip_log1p.csv: 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732 × 429 log1p precipitation matrix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W_knn10.csv: 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429 × 429 KNN-10 adjacency matrix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stations.csv: 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station IDs &amp; coordinates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districts.geojson: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district boundaries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745758" y="3453627"/>
            <a:ext cx="5429720" cy="669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6F3EB"/>
                </a:solidFill>
                <a:latin typeface="Candal"/>
                <a:ea typeface="Candal"/>
                <a:cs typeface="Candal"/>
                <a:sym typeface="Candal"/>
              </a:rPr>
              <a:t>Dataset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399965" y="3453627"/>
            <a:ext cx="5771354" cy="669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>
                <a:solidFill>
                  <a:srgbClr val="F6F3EB"/>
                </a:solidFill>
                <a:latin typeface="Candal"/>
                <a:ea typeface="Candal"/>
                <a:cs typeface="Candal"/>
                <a:sym typeface="Candal"/>
              </a:rPr>
              <a:t>Core Files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399534" y="-214684"/>
            <a:ext cx="4084018" cy="3242037"/>
          </a:xfrm>
          <a:custGeom>
            <a:avLst/>
            <a:gdLst/>
            <a:ahLst/>
            <a:cxnLst/>
            <a:rect l="l" t="t" r="r" b="b"/>
            <a:pathLst>
              <a:path w="4084018" h="3242037">
                <a:moveTo>
                  <a:pt x="0" y="0"/>
                </a:moveTo>
                <a:lnTo>
                  <a:pt x="4084018" y="0"/>
                </a:lnTo>
                <a:lnTo>
                  <a:pt x="4084018" y="3242037"/>
                </a:lnTo>
                <a:lnTo>
                  <a:pt x="0" y="32420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-2779789" y="5776553"/>
            <a:ext cx="7283827" cy="7283827"/>
          </a:xfrm>
          <a:custGeom>
            <a:avLst/>
            <a:gdLst/>
            <a:ahLst/>
            <a:cxnLst/>
            <a:rect l="l" t="t" r="r" b="b"/>
            <a:pathLst>
              <a:path w="7283827" h="7283827">
                <a:moveTo>
                  <a:pt x="0" y="0"/>
                </a:moveTo>
                <a:lnTo>
                  <a:pt x="7283827" y="0"/>
                </a:lnTo>
                <a:lnTo>
                  <a:pt x="7283827" y="7283827"/>
                </a:lnTo>
                <a:lnTo>
                  <a:pt x="0" y="728382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 flipV="1">
            <a:off x="-434735" y="6519388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4114800"/>
                </a:moveTo>
                <a:lnTo>
                  <a:pt x="4114800" y="4114800"/>
                </a:lnTo>
                <a:lnTo>
                  <a:pt x="4114800" y="0"/>
                </a:lnTo>
                <a:lnTo>
                  <a:pt x="0" y="0"/>
                </a:lnTo>
                <a:lnTo>
                  <a:pt x="0" y="411480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 rot="-5400000">
            <a:off x="1778126" y="-1449036"/>
            <a:ext cx="3219396" cy="6462292"/>
          </a:xfrm>
          <a:custGeom>
            <a:avLst/>
            <a:gdLst/>
            <a:ahLst/>
            <a:cxnLst/>
            <a:rect l="l" t="t" r="r" b="b"/>
            <a:pathLst>
              <a:path w="3219396" h="6462292">
                <a:moveTo>
                  <a:pt x="0" y="0"/>
                </a:moveTo>
                <a:lnTo>
                  <a:pt x="3219396" y="0"/>
                </a:lnTo>
                <a:lnTo>
                  <a:pt x="3219396" y="6462292"/>
                </a:lnTo>
                <a:lnTo>
                  <a:pt x="0" y="646229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/>
          <p:cNvSpPr/>
          <p:nvPr/>
        </p:nvSpPr>
        <p:spPr>
          <a:xfrm>
            <a:off x="4798953" y="3617100"/>
            <a:ext cx="12160321" cy="6159186"/>
          </a:xfrm>
          <a:custGeom>
            <a:avLst/>
            <a:gdLst/>
            <a:ahLst/>
            <a:cxnLst/>
            <a:rect l="l" t="t" r="r" b="b"/>
            <a:pathLst>
              <a:path w="12160321" h="6159186">
                <a:moveTo>
                  <a:pt x="0" y="0"/>
                </a:moveTo>
                <a:lnTo>
                  <a:pt x="12160321" y="0"/>
                </a:lnTo>
                <a:lnTo>
                  <a:pt x="12160321" y="6159186"/>
                </a:lnTo>
                <a:lnTo>
                  <a:pt x="0" y="615918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t="-3800" b="-3800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TextBox 7"/>
          <p:cNvSpPr txBox="1"/>
          <p:nvPr/>
        </p:nvSpPr>
        <p:spPr>
          <a:xfrm>
            <a:off x="6280682" y="1244410"/>
            <a:ext cx="10678592" cy="2797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System Workflow</a:t>
            </a:r>
          </a:p>
          <a:p>
            <a:pPr algn="ctr">
              <a:lnSpc>
                <a:spcPts val="11200"/>
              </a:lnSpc>
            </a:pPr>
            <a:endParaRPr lang="en-US" sz="8000">
              <a:solidFill>
                <a:srgbClr val="343434"/>
              </a:solidFill>
              <a:latin typeface="Candal"/>
              <a:ea typeface="Candal"/>
              <a:cs typeface="Candal"/>
              <a:sym typeface="Cand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98151" y="-187007"/>
            <a:ext cx="4499059" cy="4499059"/>
          </a:xfrm>
          <a:custGeom>
            <a:avLst/>
            <a:gdLst/>
            <a:ahLst/>
            <a:cxnLst/>
            <a:rect l="l" t="t" r="r" b="b"/>
            <a:pathLst>
              <a:path w="4499059" h="4499059">
                <a:moveTo>
                  <a:pt x="0" y="0"/>
                </a:moveTo>
                <a:lnTo>
                  <a:pt x="4499058" y="0"/>
                </a:lnTo>
                <a:lnTo>
                  <a:pt x="4499058" y="4499059"/>
                </a:lnTo>
                <a:lnTo>
                  <a:pt x="0" y="44990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2634920" y="-1442313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TextBox 4"/>
          <p:cNvSpPr txBox="1"/>
          <p:nvPr/>
        </p:nvSpPr>
        <p:spPr>
          <a:xfrm>
            <a:off x="6687787" y="453162"/>
            <a:ext cx="11590688" cy="2797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Graph Construction</a:t>
            </a:r>
          </a:p>
          <a:p>
            <a:pPr algn="ctr">
              <a:lnSpc>
                <a:spcPts val="11200"/>
              </a:lnSpc>
            </a:pPr>
            <a:endParaRPr lang="en-US" sz="8000">
              <a:solidFill>
                <a:srgbClr val="343434"/>
              </a:solidFill>
              <a:latin typeface="Candal"/>
              <a:ea typeface="Candal"/>
              <a:cs typeface="Candal"/>
              <a:sym typeface="Candal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3361789" y="3246092"/>
            <a:ext cx="11564423" cy="6391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Motivation: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Rainfall correlated across nearby stations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Need to encode spatial dependencies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Approach: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K-nearest neighbors (K=10) based on geographic distance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Weighted adjacency matrix: W_knn10.csv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Distance kernel with σ ≈ 136 km (controls influence decay)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Role: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Used in every horizon’s STGCN training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6" name="Freeform 6"/>
          <p:cNvSpPr/>
          <p:nvPr/>
        </p:nvSpPr>
        <p:spPr>
          <a:xfrm>
            <a:off x="133747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Freeform 7"/>
          <p:cNvSpPr/>
          <p:nvPr/>
        </p:nvSpPr>
        <p:spPr>
          <a:xfrm>
            <a:off x="5486400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8" name="Freeform 8"/>
          <p:cNvSpPr/>
          <p:nvPr/>
        </p:nvSpPr>
        <p:spPr>
          <a:xfrm>
            <a:off x="-24019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09550" y="7119153"/>
            <a:ext cx="5115420" cy="5115420"/>
          </a:xfrm>
          <a:custGeom>
            <a:avLst/>
            <a:gdLst/>
            <a:ahLst/>
            <a:cxnLst/>
            <a:rect l="l" t="t" r="r" b="b"/>
            <a:pathLst>
              <a:path w="5115420" h="5115420">
                <a:moveTo>
                  <a:pt x="0" y="0"/>
                </a:moveTo>
                <a:lnTo>
                  <a:pt x="5115420" y="0"/>
                </a:lnTo>
                <a:lnTo>
                  <a:pt x="5115420" y="5115420"/>
                </a:lnTo>
                <a:lnTo>
                  <a:pt x="0" y="51154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 rot="5400000">
            <a:off x="-3022934" y="2418898"/>
            <a:ext cx="9608356" cy="4070449"/>
          </a:xfrm>
          <a:custGeom>
            <a:avLst/>
            <a:gdLst/>
            <a:ahLst/>
            <a:cxnLst/>
            <a:rect l="l" t="t" r="r" b="b"/>
            <a:pathLst>
              <a:path w="9608356" h="4070449">
                <a:moveTo>
                  <a:pt x="0" y="0"/>
                </a:moveTo>
                <a:lnTo>
                  <a:pt x="9608356" y="0"/>
                </a:lnTo>
                <a:lnTo>
                  <a:pt x="9608356" y="4070449"/>
                </a:lnTo>
                <a:lnTo>
                  <a:pt x="0" y="407044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14219510" y="-997475"/>
            <a:ext cx="3846149" cy="2692304"/>
          </a:xfrm>
          <a:custGeom>
            <a:avLst/>
            <a:gdLst/>
            <a:ahLst/>
            <a:cxnLst/>
            <a:rect l="l" t="t" r="r" b="b"/>
            <a:pathLst>
              <a:path w="3846149" h="2692304">
                <a:moveTo>
                  <a:pt x="0" y="0"/>
                </a:moveTo>
                <a:lnTo>
                  <a:pt x="3846149" y="0"/>
                </a:lnTo>
                <a:lnTo>
                  <a:pt x="3846149" y="2692304"/>
                </a:lnTo>
                <a:lnTo>
                  <a:pt x="0" y="26923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185306" y="7772864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TextBox 6"/>
          <p:cNvSpPr txBox="1"/>
          <p:nvPr/>
        </p:nvSpPr>
        <p:spPr>
          <a:xfrm>
            <a:off x="2348160" y="1241890"/>
            <a:ext cx="16208002" cy="2797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Station Forecasting Model</a:t>
            </a:r>
          </a:p>
          <a:p>
            <a:pPr algn="ctr">
              <a:lnSpc>
                <a:spcPts val="11200"/>
              </a:lnSpc>
            </a:pPr>
            <a:endParaRPr lang="en-US" sz="8000">
              <a:solidFill>
                <a:srgbClr val="343434"/>
              </a:solidFill>
              <a:latin typeface="Candal"/>
              <a:ea typeface="Candal"/>
              <a:cs typeface="Candal"/>
              <a:sym typeface="Candal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080016" y="3657249"/>
            <a:ext cx="12783053" cy="6391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Problem formulation: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Input: last P = 30 days of log1p rainfall (V[t−29:t] for all stations)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Output: rainfall at horizon H days ahead (V[t+H])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Architecture: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Temporal convolution → Graph convolution → Temporal convolution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Uses W_knn10 to share information across stations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Training: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7 separate models (H = 1..7)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Epochs = 30, batch size = 16, LR = 0.001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Loss: L1 (MAE), metrics: MAE &amp; RMSE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98151" y="-187007"/>
            <a:ext cx="4499059" cy="4499059"/>
          </a:xfrm>
          <a:custGeom>
            <a:avLst/>
            <a:gdLst/>
            <a:ahLst/>
            <a:cxnLst/>
            <a:rect l="l" t="t" r="r" b="b"/>
            <a:pathLst>
              <a:path w="4499059" h="4499059">
                <a:moveTo>
                  <a:pt x="0" y="0"/>
                </a:moveTo>
                <a:lnTo>
                  <a:pt x="4499058" y="0"/>
                </a:lnTo>
                <a:lnTo>
                  <a:pt x="4499058" y="4499059"/>
                </a:lnTo>
                <a:lnTo>
                  <a:pt x="0" y="44990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2634920" y="-1442313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133747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5486400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/>
          <p:cNvSpPr/>
          <p:nvPr/>
        </p:nvSpPr>
        <p:spPr>
          <a:xfrm>
            <a:off x="-24019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Freeform 7"/>
          <p:cNvSpPr/>
          <p:nvPr/>
        </p:nvSpPr>
        <p:spPr>
          <a:xfrm>
            <a:off x="8163959" y="3849821"/>
            <a:ext cx="9275282" cy="5739081"/>
          </a:xfrm>
          <a:custGeom>
            <a:avLst/>
            <a:gdLst/>
            <a:ahLst/>
            <a:cxnLst/>
            <a:rect l="l" t="t" r="r" b="b"/>
            <a:pathLst>
              <a:path w="9275282" h="5739081">
                <a:moveTo>
                  <a:pt x="0" y="0"/>
                </a:moveTo>
                <a:lnTo>
                  <a:pt x="9275282" y="0"/>
                </a:lnTo>
                <a:lnTo>
                  <a:pt x="9275282" y="5739081"/>
                </a:lnTo>
                <a:lnTo>
                  <a:pt x="0" y="573908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8" name="TextBox 8"/>
          <p:cNvSpPr txBox="1"/>
          <p:nvPr/>
        </p:nvSpPr>
        <p:spPr>
          <a:xfrm>
            <a:off x="6218404" y="453162"/>
            <a:ext cx="12333520" cy="2797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Station Forecasting Results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03014" y="4264427"/>
            <a:ext cx="7772974" cy="532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Test performance by horizon:</a:t>
            </a:r>
          </a:p>
          <a:p>
            <a:pPr algn="just">
              <a:lnSpc>
                <a:spcPts val="4200"/>
              </a:lnSpc>
            </a:pPr>
            <a:endParaRPr lang="en-US" sz="3000" b="1">
              <a:solidFill>
                <a:srgbClr val="343434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H=1: MAE 0.7983, RMSE 1.0175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H=2: MAE 0.8165, RMSE 1.0294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H=3: MAE 0.8368, RMSE 1.0539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H=4: MAE 0.8793, RMSE 1.1106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H=5: MAE 0.8980, RMSE 1.1345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H=6: MAE 0.8765, RMSE 1.10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H=7: MAE 0.8763, RMSE 1.0980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98151" y="-187007"/>
            <a:ext cx="4499059" cy="4499059"/>
          </a:xfrm>
          <a:custGeom>
            <a:avLst/>
            <a:gdLst/>
            <a:ahLst/>
            <a:cxnLst/>
            <a:rect l="l" t="t" r="r" b="b"/>
            <a:pathLst>
              <a:path w="4499059" h="4499059">
                <a:moveTo>
                  <a:pt x="0" y="0"/>
                </a:moveTo>
                <a:lnTo>
                  <a:pt x="4499058" y="0"/>
                </a:lnTo>
                <a:lnTo>
                  <a:pt x="4499058" y="4499059"/>
                </a:lnTo>
                <a:lnTo>
                  <a:pt x="0" y="44990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2634920" y="-1442313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133747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5486400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/>
          <p:cNvSpPr/>
          <p:nvPr/>
        </p:nvSpPr>
        <p:spPr>
          <a:xfrm>
            <a:off x="-24019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TextBox 7"/>
          <p:cNvSpPr txBox="1"/>
          <p:nvPr/>
        </p:nvSpPr>
        <p:spPr>
          <a:xfrm>
            <a:off x="6218404" y="453162"/>
            <a:ext cx="12333520" cy="4216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Observations of Forecasting Results</a:t>
            </a:r>
          </a:p>
          <a:p>
            <a:pPr algn="ctr">
              <a:lnSpc>
                <a:spcPts val="11200"/>
              </a:lnSpc>
            </a:pPr>
            <a:endParaRPr lang="en-US" sz="8000">
              <a:solidFill>
                <a:srgbClr val="343434"/>
              </a:solidFill>
              <a:latin typeface="Candal"/>
              <a:ea typeface="Candal"/>
              <a:cs typeface="Candal"/>
              <a:sym typeface="Candal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0" y="5447764"/>
            <a:ext cx="7772974" cy="2657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Errors increase with lead time (expected)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Skill maintained even at H=7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Learning curves show stable convergence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7553042" y="4981892"/>
            <a:ext cx="10554267" cy="3693993"/>
          </a:xfrm>
          <a:custGeom>
            <a:avLst/>
            <a:gdLst/>
            <a:ahLst/>
            <a:cxnLst/>
            <a:rect l="l" t="t" r="r" b="b"/>
            <a:pathLst>
              <a:path w="10554267" h="3693993">
                <a:moveTo>
                  <a:pt x="0" y="0"/>
                </a:moveTo>
                <a:lnTo>
                  <a:pt x="10554266" y="0"/>
                </a:lnTo>
                <a:lnTo>
                  <a:pt x="10554266" y="3693993"/>
                </a:lnTo>
                <a:lnTo>
                  <a:pt x="0" y="369399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399534" y="-214684"/>
            <a:ext cx="4084018" cy="3242037"/>
          </a:xfrm>
          <a:custGeom>
            <a:avLst/>
            <a:gdLst/>
            <a:ahLst/>
            <a:cxnLst/>
            <a:rect l="l" t="t" r="r" b="b"/>
            <a:pathLst>
              <a:path w="4084018" h="3242037">
                <a:moveTo>
                  <a:pt x="0" y="0"/>
                </a:moveTo>
                <a:lnTo>
                  <a:pt x="4084018" y="0"/>
                </a:lnTo>
                <a:lnTo>
                  <a:pt x="4084018" y="3242037"/>
                </a:lnTo>
                <a:lnTo>
                  <a:pt x="0" y="32420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11225028" y="3695700"/>
            <a:ext cx="6349012" cy="6356958"/>
          </a:xfrm>
          <a:custGeom>
            <a:avLst/>
            <a:gdLst/>
            <a:ahLst/>
            <a:cxnLst/>
            <a:rect l="l" t="t" r="r" b="b"/>
            <a:pathLst>
              <a:path w="6349012" h="6356958">
                <a:moveTo>
                  <a:pt x="0" y="0"/>
                </a:moveTo>
                <a:lnTo>
                  <a:pt x="6349012" y="0"/>
                </a:lnTo>
                <a:lnTo>
                  <a:pt x="6349012" y="6356958"/>
                </a:lnTo>
                <a:lnTo>
                  <a:pt x="0" y="63569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TextBox 4"/>
          <p:cNvSpPr txBox="1"/>
          <p:nvPr/>
        </p:nvSpPr>
        <p:spPr>
          <a:xfrm>
            <a:off x="-291146" y="-161925"/>
            <a:ext cx="14827834" cy="2797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District Aggregation &amp; Feature Engineering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0" y="3629025"/>
            <a:ext cx="9557816" cy="692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Mapping: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Use districts.geojson to assign stations to districts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429 stations mapped, 3 unmatched (edge cases)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Aggregation: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Average station forecasts per district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Features per district: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roll3_mm (3-day sum) – short-term accumulation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roll7_mm (7-day sum)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roll30_mm (30-day sum) – longer-term deficit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ypred_mm – next-day predicted rainfall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98151" y="-187007"/>
            <a:ext cx="4499059" cy="4499059"/>
          </a:xfrm>
          <a:custGeom>
            <a:avLst/>
            <a:gdLst/>
            <a:ahLst/>
            <a:cxnLst/>
            <a:rect l="l" t="t" r="r" b="b"/>
            <a:pathLst>
              <a:path w="4499059" h="4499059">
                <a:moveTo>
                  <a:pt x="0" y="0"/>
                </a:moveTo>
                <a:lnTo>
                  <a:pt x="4499058" y="0"/>
                </a:lnTo>
                <a:lnTo>
                  <a:pt x="4499058" y="4499059"/>
                </a:lnTo>
                <a:lnTo>
                  <a:pt x="0" y="44990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2634920" y="-1442313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133747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5486400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/>
          <p:cNvSpPr/>
          <p:nvPr/>
        </p:nvSpPr>
        <p:spPr>
          <a:xfrm>
            <a:off x="-24019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TextBox 7"/>
          <p:cNvSpPr txBox="1"/>
          <p:nvPr/>
        </p:nvSpPr>
        <p:spPr>
          <a:xfrm>
            <a:off x="654491" y="3605006"/>
            <a:ext cx="12860243" cy="6391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No ground-truth impact records in dataset</a:t>
            </a:r>
          </a:p>
          <a:p>
            <a:pPr algn="just">
              <a:lnSpc>
                <a:spcPts val="4200"/>
              </a:lnSpc>
            </a:pPr>
            <a:endParaRPr lang="en-US" sz="3000" b="1">
              <a:solidFill>
                <a:srgbClr val="343434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Data-driven thresholds from district features: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Flood: roll3_mm &gt; 59.55 mm (95th percentile)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Drought: roll30_mm &lt; 24.37 mm (10th percentile)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Normal: otherwise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Rationale: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Floods: extreme short-term accumulation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Droughts: prolonged low rainfall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Percentiles adapt to local climate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10552460" y="4093638"/>
            <a:ext cx="7287002" cy="5164662"/>
          </a:xfrm>
          <a:custGeom>
            <a:avLst/>
            <a:gdLst/>
            <a:ahLst/>
            <a:cxnLst/>
            <a:rect l="l" t="t" r="r" b="b"/>
            <a:pathLst>
              <a:path w="7287002" h="5164662">
                <a:moveTo>
                  <a:pt x="0" y="0"/>
                </a:moveTo>
                <a:lnTo>
                  <a:pt x="7287001" y="0"/>
                </a:lnTo>
                <a:lnTo>
                  <a:pt x="7287001" y="5164662"/>
                </a:lnTo>
                <a:lnTo>
                  <a:pt x="0" y="516466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9" name="TextBox 9"/>
          <p:cNvSpPr txBox="1"/>
          <p:nvPr/>
        </p:nvSpPr>
        <p:spPr>
          <a:xfrm>
            <a:off x="5621460" y="453162"/>
            <a:ext cx="13413363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Hazard Labeling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809109" y="0"/>
            <a:ext cx="4084018" cy="3242037"/>
          </a:xfrm>
          <a:custGeom>
            <a:avLst/>
            <a:gdLst/>
            <a:ahLst/>
            <a:cxnLst/>
            <a:rect l="l" t="t" r="r" b="b"/>
            <a:pathLst>
              <a:path w="4084018" h="3242037">
                <a:moveTo>
                  <a:pt x="0" y="0"/>
                </a:moveTo>
                <a:lnTo>
                  <a:pt x="4084018" y="0"/>
                </a:lnTo>
                <a:lnTo>
                  <a:pt x="4084018" y="3242037"/>
                </a:lnTo>
                <a:lnTo>
                  <a:pt x="0" y="32420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TextBox 3"/>
          <p:cNvSpPr txBox="1"/>
          <p:nvPr/>
        </p:nvSpPr>
        <p:spPr>
          <a:xfrm>
            <a:off x="135060" y="243069"/>
            <a:ext cx="15345565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District Risk Classification 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06" y="2636104"/>
            <a:ext cx="13159422" cy="799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Inputs (4 features):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roll3_mm, roll7_mm, roll30_mm, ypred_mm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Architecture: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Input (4) → Hidden (64, ReLU, dropout 0.2)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Hidden (64, ReLU, dropout 0.2)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Output (3) → Softmax (Flood, Drought, Normal)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Training: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Loss: Cross-Entropy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Separate model per horizon (H=1..7)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Outputs: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P(Flood), P(Drought), P(Normal)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15345565" y="7457724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98151" y="-187007"/>
            <a:ext cx="4499059" cy="4499059"/>
          </a:xfrm>
          <a:custGeom>
            <a:avLst/>
            <a:gdLst/>
            <a:ahLst/>
            <a:cxnLst/>
            <a:rect l="l" t="t" r="r" b="b"/>
            <a:pathLst>
              <a:path w="4499059" h="4499059">
                <a:moveTo>
                  <a:pt x="0" y="0"/>
                </a:moveTo>
                <a:lnTo>
                  <a:pt x="4499058" y="0"/>
                </a:lnTo>
                <a:lnTo>
                  <a:pt x="4499058" y="4499059"/>
                </a:lnTo>
                <a:lnTo>
                  <a:pt x="0" y="44990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2634920" y="-1442313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133747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5486400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/>
          <p:cNvSpPr/>
          <p:nvPr/>
        </p:nvSpPr>
        <p:spPr>
          <a:xfrm>
            <a:off x="-24019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TextBox 7"/>
          <p:cNvSpPr txBox="1"/>
          <p:nvPr/>
        </p:nvSpPr>
        <p:spPr>
          <a:xfrm>
            <a:off x="4530152" y="453162"/>
            <a:ext cx="14044283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Probability Calibration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712182" y="2828925"/>
            <a:ext cx="13963235" cy="7458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Problem: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Neural networks often overconfident → bad for thresholds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Method: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Temperature scaling on logits:</a:t>
            </a:r>
          </a:p>
          <a:p>
            <a:pPr marL="1943100" lvl="3" indent="-485775" algn="just">
              <a:lnSpc>
                <a:spcPts val="4200"/>
              </a:lnSpc>
              <a:buFont typeface="Arial"/>
              <a:buChar char="￭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calibrated_probs = softmax(logits / T)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 learned on validation set (no retraining of main model)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Results: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Macro-F1 ≈ 0.9936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ECE ≈ 0.0026–0.0044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Meaning: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High accuracy AND well-calibrated probabilities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98151" y="-187007"/>
            <a:ext cx="4499059" cy="4499059"/>
          </a:xfrm>
          <a:custGeom>
            <a:avLst/>
            <a:gdLst/>
            <a:ahLst/>
            <a:cxnLst/>
            <a:rect l="l" t="t" r="r" b="b"/>
            <a:pathLst>
              <a:path w="4499059" h="4499059">
                <a:moveTo>
                  <a:pt x="0" y="0"/>
                </a:moveTo>
                <a:lnTo>
                  <a:pt x="4499058" y="0"/>
                </a:lnTo>
                <a:lnTo>
                  <a:pt x="4499058" y="4499059"/>
                </a:lnTo>
                <a:lnTo>
                  <a:pt x="0" y="44990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2634920" y="-1442313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133747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5486400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/>
          <p:cNvSpPr/>
          <p:nvPr/>
        </p:nvSpPr>
        <p:spPr>
          <a:xfrm>
            <a:off x="-24019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TextBox 7"/>
          <p:cNvSpPr txBox="1"/>
          <p:nvPr/>
        </p:nvSpPr>
        <p:spPr>
          <a:xfrm>
            <a:off x="5925905" y="453162"/>
            <a:ext cx="12333520" cy="2797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Autonomous Alerting Policy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6720" y="4332809"/>
            <a:ext cx="7772974" cy="3724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Policy parameters (policy.json):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Flood threshold: 0.6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Drought threshold: 0.6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Alert logic: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If P(Flood) &gt; 0.6 → Flood alert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If P(Drought) &gt; 0.6 → Drought alert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9951287" y="4245377"/>
            <a:ext cx="7772974" cy="532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Alert record fields: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district, origin_date, target_date, horizon_days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hazard (Flood/Drought)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p_flood, p_drought, p_normal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thresholds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ypred_mm, roll3_mm, roll7_mm, roll30_mm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explanation_top_features (SHAP)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037929" y="6183861"/>
            <a:ext cx="7715839" cy="7715839"/>
          </a:xfrm>
          <a:custGeom>
            <a:avLst/>
            <a:gdLst/>
            <a:ahLst/>
            <a:cxnLst/>
            <a:rect l="l" t="t" r="r" b="b"/>
            <a:pathLst>
              <a:path w="7715839" h="7715839">
                <a:moveTo>
                  <a:pt x="0" y="0"/>
                </a:moveTo>
                <a:lnTo>
                  <a:pt x="7715839" y="0"/>
                </a:lnTo>
                <a:lnTo>
                  <a:pt x="7715839" y="7715839"/>
                </a:lnTo>
                <a:lnTo>
                  <a:pt x="0" y="77158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10783727" y="8118493"/>
            <a:ext cx="7315200" cy="1923288"/>
          </a:xfrm>
          <a:custGeom>
            <a:avLst/>
            <a:gdLst/>
            <a:ahLst/>
            <a:cxnLst/>
            <a:rect l="l" t="t" r="r" b="b"/>
            <a:pathLst>
              <a:path w="7315200" h="1923288">
                <a:moveTo>
                  <a:pt x="0" y="0"/>
                </a:moveTo>
                <a:lnTo>
                  <a:pt x="7315200" y="0"/>
                </a:lnTo>
                <a:lnTo>
                  <a:pt x="7315200" y="1923288"/>
                </a:lnTo>
                <a:lnTo>
                  <a:pt x="0" y="19232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187906" y="167837"/>
            <a:ext cx="6929190" cy="2685061"/>
          </a:xfrm>
          <a:custGeom>
            <a:avLst/>
            <a:gdLst/>
            <a:ahLst/>
            <a:cxnLst/>
            <a:rect l="l" t="t" r="r" b="b"/>
            <a:pathLst>
              <a:path w="6929190" h="2685061">
                <a:moveTo>
                  <a:pt x="0" y="0"/>
                </a:moveTo>
                <a:lnTo>
                  <a:pt x="6929190" y="0"/>
                </a:lnTo>
                <a:lnTo>
                  <a:pt x="6929190" y="2685061"/>
                </a:lnTo>
                <a:lnTo>
                  <a:pt x="0" y="268506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 flipV="1">
            <a:off x="4488686" y="7376555"/>
            <a:ext cx="6814326" cy="3407163"/>
          </a:xfrm>
          <a:custGeom>
            <a:avLst/>
            <a:gdLst/>
            <a:ahLst/>
            <a:cxnLst/>
            <a:rect l="l" t="t" r="r" b="b"/>
            <a:pathLst>
              <a:path w="6814326" h="3407163">
                <a:moveTo>
                  <a:pt x="0" y="3407163"/>
                </a:moveTo>
                <a:lnTo>
                  <a:pt x="6814325" y="3407163"/>
                </a:lnTo>
                <a:lnTo>
                  <a:pt x="6814325" y="0"/>
                </a:lnTo>
                <a:lnTo>
                  <a:pt x="0" y="0"/>
                </a:lnTo>
                <a:lnTo>
                  <a:pt x="0" y="3407163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/>
          <p:cNvSpPr/>
          <p:nvPr/>
        </p:nvSpPr>
        <p:spPr>
          <a:xfrm>
            <a:off x="4993883" y="7828074"/>
            <a:ext cx="5803931" cy="5803931"/>
          </a:xfrm>
          <a:custGeom>
            <a:avLst/>
            <a:gdLst/>
            <a:ahLst/>
            <a:cxnLst/>
            <a:rect l="l" t="t" r="r" b="b"/>
            <a:pathLst>
              <a:path w="5803931" h="5803931">
                <a:moveTo>
                  <a:pt x="0" y="0"/>
                </a:moveTo>
                <a:lnTo>
                  <a:pt x="5803931" y="0"/>
                </a:lnTo>
                <a:lnTo>
                  <a:pt x="5803931" y="5803931"/>
                </a:lnTo>
                <a:lnTo>
                  <a:pt x="0" y="580393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Freeform 7"/>
          <p:cNvSpPr/>
          <p:nvPr/>
        </p:nvSpPr>
        <p:spPr>
          <a:xfrm>
            <a:off x="13984127" y="-1889563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8" name="TextBox 8"/>
          <p:cNvSpPr txBox="1"/>
          <p:nvPr/>
        </p:nvSpPr>
        <p:spPr>
          <a:xfrm>
            <a:off x="4037929" y="1348442"/>
            <a:ext cx="11737653" cy="4216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Explainability Layer (SHAP)</a:t>
            </a:r>
          </a:p>
          <a:p>
            <a:pPr algn="ctr">
              <a:lnSpc>
                <a:spcPts val="11200"/>
              </a:lnSpc>
            </a:pPr>
            <a:endParaRPr lang="en-US" sz="8000">
              <a:solidFill>
                <a:srgbClr val="343434"/>
              </a:solidFill>
              <a:latin typeface="Candal"/>
              <a:ea typeface="Candal"/>
              <a:cs typeface="Candal"/>
              <a:sym typeface="Candal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395677" y="4637199"/>
            <a:ext cx="7284503" cy="3190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Why explain?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Operators need to know why a warning was triggered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Builds trust and supports accountability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132367" y="4637199"/>
            <a:ext cx="7284503" cy="3190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Method: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SHAP KernelExplainer on DistrictNet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Per-alert feature contributions:</a:t>
            </a:r>
          </a:p>
          <a:p>
            <a:pPr marL="1943100" lvl="3" indent="-485775" algn="just">
              <a:lnSpc>
                <a:spcPts val="4200"/>
              </a:lnSpc>
              <a:buFont typeface="Arial"/>
              <a:buChar char="￭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roll3_mm, roll7_mm, roll30_mm, ypred_mm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98151" y="-187007"/>
            <a:ext cx="4499059" cy="4499059"/>
          </a:xfrm>
          <a:custGeom>
            <a:avLst/>
            <a:gdLst/>
            <a:ahLst/>
            <a:cxnLst/>
            <a:rect l="l" t="t" r="r" b="b"/>
            <a:pathLst>
              <a:path w="4499059" h="4499059">
                <a:moveTo>
                  <a:pt x="0" y="0"/>
                </a:moveTo>
                <a:lnTo>
                  <a:pt x="4499058" y="0"/>
                </a:lnTo>
                <a:lnTo>
                  <a:pt x="4499058" y="4499059"/>
                </a:lnTo>
                <a:lnTo>
                  <a:pt x="0" y="44990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2634920" y="-1442313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133747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5486400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/>
          <p:cNvSpPr/>
          <p:nvPr/>
        </p:nvSpPr>
        <p:spPr>
          <a:xfrm>
            <a:off x="-24019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TextBox 7"/>
          <p:cNvSpPr txBox="1"/>
          <p:nvPr/>
        </p:nvSpPr>
        <p:spPr>
          <a:xfrm>
            <a:off x="5486400" y="258763"/>
            <a:ext cx="14044283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Key Contributions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051378" y="3054025"/>
            <a:ext cx="13963235" cy="5857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Technical: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STGCN-based multi-horizon station forecasting (P=30, H=1–7)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DistrictNet with calibrated probabilities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Data-driven hazard labeling with rolling features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Per-alert SHAP explanations in structured log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System-level: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End-to-end pipeline: data → forecast → risk → alert → explanation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Human-in-the-loop: tunable policy without retraining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District-level outputs aligned with administrative decisions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809109" y="0"/>
            <a:ext cx="4084018" cy="3242037"/>
          </a:xfrm>
          <a:custGeom>
            <a:avLst/>
            <a:gdLst/>
            <a:ahLst/>
            <a:cxnLst/>
            <a:rect l="l" t="t" r="r" b="b"/>
            <a:pathLst>
              <a:path w="4084018" h="3242037">
                <a:moveTo>
                  <a:pt x="0" y="0"/>
                </a:moveTo>
                <a:lnTo>
                  <a:pt x="4084018" y="0"/>
                </a:lnTo>
                <a:lnTo>
                  <a:pt x="4084018" y="3242037"/>
                </a:lnTo>
                <a:lnTo>
                  <a:pt x="0" y="32420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TextBox 3"/>
          <p:cNvSpPr txBox="1"/>
          <p:nvPr/>
        </p:nvSpPr>
        <p:spPr>
          <a:xfrm>
            <a:off x="180080" y="468170"/>
            <a:ext cx="15345565" cy="1377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Limitations &amp; Future Work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2996265"/>
            <a:ext cx="13159422" cy="5857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Limitations: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Hazard labels based on rainfall, not impact records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Dataset limited to 2 years (T=732)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No hydrological variables (river levels, soil moisture)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Future work: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Integrate ground-truth disaster data for validation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Extend dataset to longer time periods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Add more variables for richer risk modeling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Deploy and test in real-time with operational feedback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15345565" y="7457724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98151" y="-187007"/>
            <a:ext cx="4499059" cy="4499059"/>
          </a:xfrm>
          <a:custGeom>
            <a:avLst/>
            <a:gdLst/>
            <a:ahLst/>
            <a:cxnLst/>
            <a:rect l="l" t="t" r="r" b="b"/>
            <a:pathLst>
              <a:path w="4499059" h="4499059">
                <a:moveTo>
                  <a:pt x="0" y="0"/>
                </a:moveTo>
                <a:lnTo>
                  <a:pt x="4499058" y="0"/>
                </a:lnTo>
                <a:lnTo>
                  <a:pt x="4499058" y="4499059"/>
                </a:lnTo>
                <a:lnTo>
                  <a:pt x="0" y="44990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2634920" y="-1442313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133747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5486400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6" name="Freeform 6"/>
          <p:cNvSpPr/>
          <p:nvPr/>
        </p:nvSpPr>
        <p:spPr>
          <a:xfrm>
            <a:off x="-2401993" y="9784080"/>
            <a:ext cx="7315200" cy="1005840"/>
          </a:xfrm>
          <a:custGeom>
            <a:avLst/>
            <a:gdLst/>
            <a:ahLst/>
            <a:cxnLst/>
            <a:rect l="l" t="t" r="r" b="b"/>
            <a:pathLst>
              <a:path w="7315200" h="1005840">
                <a:moveTo>
                  <a:pt x="0" y="0"/>
                </a:moveTo>
                <a:lnTo>
                  <a:pt x="7315200" y="0"/>
                </a:lnTo>
                <a:lnTo>
                  <a:pt x="7315200" y="1005840"/>
                </a:lnTo>
                <a:lnTo>
                  <a:pt x="0" y="10058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TextBox 7"/>
          <p:cNvSpPr txBox="1"/>
          <p:nvPr/>
        </p:nvSpPr>
        <p:spPr>
          <a:xfrm>
            <a:off x="5261300" y="213743"/>
            <a:ext cx="14044283" cy="2797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Conclusion</a:t>
            </a:r>
          </a:p>
          <a:p>
            <a:pPr algn="ctr">
              <a:lnSpc>
                <a:spcPts val="11200"/>
              </a:lnSpc>
            </a:pPr>
            <a:endParaRPr lang="en-US" sz="8000">
              <a:solidFill>
                <a:srgbClr val="343434"/>
              </a:solidFill>
              <a:latin typeface="Candal"/>
              <a:ea typeface="Candal"/>
              <a:cs typeface="Candal"/>
              <a:sym typeface="Candal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2162383" y="2605812"/>
            <a:ext cx="13963235" cy="7458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Built a practical early warning workflow for Sri Lanka: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Spatio-temporal rainfall forecasting with STGCN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District-level risk with calibrated probabilities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Autonomous alerts with SHAP explanations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Demonstrated: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Good forecasting performance across horizons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High classification accuracy (F1 ≈ 0.9936)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Very low calibration error (ECE ≈ 0.003)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34343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Impact: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Moves beyond “just predictions” to actionable, explainable,</a:t>
            </a:r>
          </a:p>
          <a:p>
            <a:pPr marL="1295400" lvl="2" indent="-431800" algn="just">
              <a:lnSpc>
                <a:spcPts val="4200"/>
              </a:lnSpc>
              <a:buFont typeface="Arial"/>
              <a:buChar char="⚬"/>
            </a:pPr>
            <a:r>
              <a:rPr lang="en-US" sz="30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and adjustable early warnings at district level</a:t>
            </a:r>
          </a:p>
          <a:p>
            <a:pPr algn="just">
              <a:lnSpc>
                <a:spcPts val="4200"/>
              </a:lnSpc>
            </a:pPr>
            <a:endParaRPr lang="en-US" sz="3000">
              <a:solidFill>
                <a:srgbClr val="343434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4165230" y="927840"/>
            <a:ext cx="8330460" cy="8330460"/>
          </a:xfrm>
          <a:custGeom>
            <a:avLst/>
            <a:gdLst/>
            <a:ahLst/>
            <a:cxnLst/>
            <a:rect l="l" t="t" r="r" b="b"/>
            <a:pathLst>
              <a:path w="8330460" h="8330460">
                <a:moveTo>
                  <a:pt x="0" y="0"/>
                </a:moveTo>
                <a:lnTo>
                  <a:pt x="8330460" y="0"/>
                </a:lnTo>
                <a:lnTo>
                  <a:pt x="8330460" y="8330460"/>
                </a:lnTo>
                <a:lnTo>
                  <a:pt x="0" y="83304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 rot="5400000">
            <a:off x="-2180974" y="3086100"/>
            <a:ext cx="6067399" cy="4114800"/>
          </a:xfrm>
          <a:custGeom>
            <a:avLst/>
            <a:gdLst/>
            <a:ahLst/>
            <a:cxnLst/>
            <a:rect l="l" t="t" r="r" b="b"/>
            <a:pathLst>
              <a:path w="6067399" h="4114800">
                <a:moveTo>
                  <a:pt x="0" y="0"/>
                </a:moveTo>
                <a:lnTo>
                  <a:pt x="6067400" y="0"/>
                </a:lnTo>
                <a:lnTo>
                  <a:pt x="60674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10972800" y="-1194005"/>
            <a:ext cx="6961247" cy="2222705"/>
          </a:xfrm>
          <a:custGeom>
            <a:avLst/>
            <a:gdLst/>
            <a:ahLst/>
            <a:cxnLst/>
            <a:rect l="l" t="t" r="r" b="b"/>
            <a:pathLst>
              <a:path w="6961247" h="2222705">
                <a:moveTo>
                  <a:pt x="0" y="0"/>
                </a:moveTo>
                <a:lnTo>
                  <a:pt x="6961247" y="0"/>
                </a:lnTo>
                <a:lnTo>
                  <a:pt x="6961247" y="2222705"/>
                </a:lnTo>
                <a:lnTo>
                  <a:pt x="0" y="22227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TextBox 5"/>
          <p:cNvSpPr txBox="1"/>
          <p:nvPr/>
        </p:nvSpPr>
        <p:spPr>
          <a:xfrm>
            <a:off x="1921693" y="49318"/>
            <a:ext cx="8276864" cy="15760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References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910126" y="2497741"/>
            <a:ext cx="15377874" cy="6399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6574" lvl="1" indent="-248287" algn="just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United Nations Office for Disaster Risk Reduction (UNDRR). (2025). Words into action guidelines: Multi-hazard early warning systems. https://www.undrr.org/</a:t>
            </a:r>
          </a:p>
          <a:p>
            <a:pPr marL="496574" lvl="1" indent="-248287" algn="just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World Meteorological Organization (WMO). (2017). Multi-hazard early warning systems: A checklist. WMO-No. 1206.</a:t>
            </a:r>
          </a:p>
          <a:p>
            <a:pPr marL="496574" lvl="1" indent="-248287" algn="just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Shi, X., Chen, Z., Wang, H., Yeung, D.-Y., Wong, W., &amp; Woo, W. (2015). Convolutional LSTM network: A machine learning approach for precipitation nowcasting. Advances in Neural Information Processing Systems, 28, 802–810.</a:t>
            </a:r>
          </a:p>
          <a:p>
            <a:pPr marL="496574" lvl="1" indent="-248287" algn="just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Yu, B., Yin, H., &amp; Zhu, Z. (2018). Spatio-temporal graph convolutional networks: A deep learning framework for traffic forecasting. Proceedings of the 27th International Joint Conference on Artificial Intelligence (IJCAI)</a:t>
            </a:r>
          </a:p>
          <a:p>
            <a:pPr marL="496574" lvl="1" indent="-248287" algn="just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Capone, V., Casolaro, A., &amp; Camastra, F. (2025). Spatio-temporal prediction using graph neural networks: A survey. Neurocomputing, 643, Article 130400. https://doi.org/10.1016/j.neucom.2025.130400</a:t>
            </a:r>
          </a:p>
          <a:p>
            <a:pPr marL="496574" lvl="1" indent="-248287" algn="just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Guo, C., Pleiss, G., Sun, Y., &amp; Weinberger, K. Q. (2017). On calibration of modern neural networks. Proceedings of the 34th International Conference on Machine Learning, 70, 1321–1330. https://proceedings.mlr.press/v70/guo17a.html</a:t>
            </a:r>
          </a:p>
          <a:p>
            <a:pPr marL="496574" lvl="1" indent="-248287" algn="just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Li, B., Ma, J., Yin, K., Xiao, Y., Hsu, C.-W., &amp; Mostafavi, A. (2025). Disaster management in the era of agentic AI systems: A vision for collective human-machine intelligence for augmented resilience (arXiv:2510.16034). arXiv. https://arxiv.org/abs/2510.16034 Early warning of complex climate risk with integrated artificial intelligence (2025).</a:t>
            </a:r>
          </a:p>
          <a:p>
            <a:pPr marL="496574" lvl="1" indent="-248287" algn="just">
              <a:lnSpc>
                <a:spcPts val="3220"/>
              </a:lnSpc>
              <a:buFont typeface="Arial"/>
              <a:buChar char="•"/>
            </a:pPr>
            <a:r>
              <a:rPr lang="en-US" sz="2300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Thilakarathne, D., &amp; Premachandra, H. K. A. (2017). Predicting floods in North Central Province of Sri Lanka using machine learning and data mining methods.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182110" y="5181110"/>
            <a:ext cx="8154379" cy="8154379"/>
          </a:xfrm>
          <a:custGeom>
            <a:avLst/>
            <a:gdLst/>
            <a:ahLst/>
            <a:cxnLst/>
            <a:rect l="l" t="t" r="r" b="b"/>
            <a:pathLst>
              <a:path w="8154379" h="8154379">
                <a:moveTo>
                  <a:pt x="0" y="0"/>
                </a:moveTo>
                <a:lnTo>
                  <a:pt x="8154380" y="0"/>
                </a:lnTo>
                <a:lnTo>
                  <a:pt x="8154380" y="8154380"/>
                </a:lnTo>
                <a:lnTo>
                  <a:pt x="0" y="81543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2964929" y="-728801"/>
            <a:ext cx="4809082" cy="1757501"/>
          </a:xfrm>
          <a:custGeom>
            <a:avLst/>
            <a:gdLst/>
            <a:ahLst/>
            <a:cxnLst/>
            <a:rect l="l" t="t" r="r" b="b"/>
            <a:pathLst>
              <a:path w="4809082" h="1757501">
                <a:moveTo>
                  <a:pt x="0" y="0"/>
                </a:moveTo>
                <a:lnTo>
                  <a:pt x="4809082" y="0"/>
                </a:lnTo>
                <a:lnTo>
                  <a:pt x="4809082" y="1757501"/>
                </a:lnTo>
                <a:lnTo>
                  <a:pt x="0" y="175750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-3048490" y="-2973269"/>
            <a:ext cx="8154379" cy="8154379"/>
          </a:xfrm>
          <a:custGeom>
            <a:avLst/>
            <a:gdLst/>
            <a:ahLst/>
            <a:cxnLst/>
            <a:rect l="l" t="t" r="r" b="b"/>
            <a:pathLst>
              <a:path w="8154379" h="8154379">
                <a:moveTo>
                  <a:pt x="0" y="0"/>
                </a:moveTo>
                <a:lnTo>
                  <a:pt x="8154380" y="0"/>
                </a:lnTo>
                <a:lnTo>
                  <a:pt x="8154380" y="8154379"/>
                </a:lnTo>
                <a:lnTo>
                  <a:pt x="0" y="81543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TextBox 5"/>
          <p:cNvSpPr txBox="1"/>
          <p:nvPr/>
        </p:nvSpPr>
        <p:spPr>
          <a:xfrm>
            <a:off x="3329559" y="3972187"/>
            <a:ext cx="11766040" cy="19403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516"/>
              </a:lnSpc>
            </a:pPr>
            <a:r>
              <a:rPr lang="en-US" sz="14516">
                <a:solidFill>
                  <a:srgbClr val="343434"/>
                </a:solidFill>
                <a:latin typeface="Candal"/>
                <a:ea typeface="Candal"/>
                <a:cs typeface="Candal"/>
                <a:sym typeface="Candal"/>
              </a:rPr>
              <a:t>THANK YOU</a:t>
            </a:r>
          </a:p>
        </p:txBody>
      </p:sp>
      <p:sp>
        <p:nvSpPr>
          <p:cNvPr id="6" name="Freeform 6"/>
          <p:cNvSpPr/>
          <p:nvPr/>
        </p:nvSpPr>
        <p:spPr>
          <a:xfrm>
            <a:off x="-236144" y="-195501"/>
            <a:ext cx="4425558" cy="4425558"/>
          </a:xfrm>
          <a:custGeom>
            <a:avLst/>
            <a:gdLst/>
            <a:ahLst/>
            <a:cxnLst/>
            <a:rect l="l" t="t" r="r" b="b"/>
            <a:pathLst>
              <a:path w="4425558" h="4425558">
                <a:moveTo>
                  <a:pt x="0" y="0"/>
                </a:moveTo>
                <a:lnTo>
                  <a:pt x="4425558" y="0"/>
                </a:lnTo>
                <a:lnTo>
                  <a:pt x="4425558" y="4425558"/>
                </a:lnTo>
                <a:lnTo>
                  <a:pt x="0" y="442555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7" name="Freeform 7"/>
          <p:cNvSpPr/>
          <p:nvPr/>
        </p:nvSpPr>
        <p:spPr>
          <a:xfrm flipH="1" flipV="1">
            <a:off x="14171741" y="6177516"/>
            <a:ext cx="4425558" cy="4425558"/>
          </a:xfrm>
          <a:custGeom>
            <a:avLst/>
            <a:gdLst/>
            <a:ahLst/>
            <a:cxnLst/>
            <a:rect l="l" t="t" r="r" b="b"/>
            <a:pathLst>
              <a:path w="4425558" h="4425558">
                <a:moveTo>
                  <a:pt x="4425558" y="4425559"/>
                </a:moveTo>
                <a:lnTo>
                  <a:pt x="0" y="4425559"/>
                </a:lnTo>
                <a:lnTo>
                  <a:pt x="0" y="0"/>
                </a:lnTo>
                <a:lnTo>
                  <a:pt x="4425558" y="0"/>
                </a:lnTo>
                <a:lnTo>
                  <a:pt x="4425558" y="4425559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8" name="Freeform 8"/>
          <p:cNvSpPr/>
          <p:nvPr/>
        </p:nvSpPr>
        <p:spPr>
          <a:xfrm>
            <a:off x="205233" y="8131414"/>
            <a:ext cx="7315200" cy="1923288"/>
          </a:xfrm>
          <a:custGeom>
            <a:avLst/>
            <a:gdLst/>
            <a:ahLst/>
            <a:cxnLst/>
            <a:rect l="l" t="t" r="r" b="b"/>
            <a:pathLst>
              <a:path w="7315200" h="1923288">
                <a:moveTo>
                  <a:pt x="0" y="0"/>
                </a:moveTo>
                <a:lnTo>
                  <a:pt x="7315200" y="0"/>
                </a:lnTo>
                <a:lnTo>
                  <a:pt x="7315200" y="1923288"/>
                </a:lnTo>
                <a:lnTo>
                  <a:pt x="0" y="192328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9" name="Freeform 9"/>
          <p:cNvSpPr/>
          <p:nvPr/>
        </p:nvSpPr>
        <p:spPr>
          <a:xfrm>
            <a:off x="13182110" y="-728801"/>
            <a:ext cx="4809082" cy="1757501"/>
          </a:xfrm>
          <a:custGeom>
            <a:avLst/>
            <a:gdLst/>
            <a:ahLst/>
            <a:cxnLst/>
            <a:rect l="l" t="t" r="r" b="b"/>
            <a:pathLst>
              <a:path w="4809082" h="1757501">
                <a:moveTo>
                  <a:pt x="0" y="0"/>
                </a:moveTo>
                <a:lnTo>
                  <a:pt x="4809083" y="0"/>
                </a:lnTo>
                <a:lnTo>
                  <a:pt x="4809083" y="1757501"/>
                </a:lnTo>
                <a:lnTo>
                  <a:pt x="0" y="175750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0" name="Freeform 10"/>
          <p:cNvSpPr/>
          <p:nvPr/>
        </p:nvSpPr>
        <p:spPr>
          <a:xfrm>
            <a:off x="8073520" y="-728801"/>
            <a:ext cx="4809082" cy="1757501"/>
          </a:xfrm>
          <a:custGeom>
            <a:avLst/>
            <a:gdLst/>
            <a:ahLst/>
            <a:cxnLst/>
            <a:rect l="l" t="t" r="r" b="b"/>
            <a:pathLst>
              <a:path w="4809082" h="1757501">
                <a:moveTo>
                  <a:pt x="0" y="0"/>
                </a:moveTo>
                <a:lnTo>
                  <a:pt x="4809082" y="0"/>
                </a:lnTo>
                <a:lnTo>
                  <a:pt x="4809082" y="1757501"/>
                </a:lnTo>
                <a:lnTo>
                  <a:pt x="0" y="175750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11" name="TextBox 11"/>
          <p:cNvSpPr txBox="1"/>
          <p:nvPr/>
        </p:nvSpPr>
        <p:spPr>
          <a:xfrm>
            <a:off x="6714123" y="5836327"/>
            <a:ext cx="4996911" cy="6061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13"/>
              </a:lnSpc>
            </a:pPr>
            <a:r>
              <a:rPr lang="en-US" sz="3509">
                <a:solidFill>
                  <a:srgbClr val="34343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For your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1490</Words>
  <Application>Microsoft Office PowerPoint</Application>
  <PresentationFormat>Custom</PresentationFormat>
  <Paragraphs>215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Candal</vt:lpstr>
      <vt:lpstr>Glacial Indifference</vt:lpstr>
      <vt:lpstr>Calibri</vt:lpstr>
      <vt:lpstr>Glacial Indifference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Beige Blue Simple Geometric Research Project Presentation</dc:title>
  <cp:lastModifiedBy>ARIWALAGAN D</cp:lastModifiedBy>
  <cp:revision>2</cp:revision>
  <dcterms:created xsi:type="dcterms:W3CDTF">2006-08-16T00:00:00Z</dcterms:created>
  <dcterms:modified xsi:type="dcterms:W3CDTF">2026-01-08T18:01:14Z</dcterms:modified>
  <dc:identifier>DAG92BsbGNA</dc:identifier>
</cp:coreProperties>
</file>